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1BEF9-0A1C-42B3-AE7F-647177F859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70C46-35F9-474F-8A44-A1C3C39A6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70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70C46-35F9-474F-8A44-A1C3C39A69E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22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D3-ECC5-407E-55EB-A8C08C7C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25A0B8-742C-44E3-7026-E63CBE2A06D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063FA3-ABCC-808E-1DC1-FAAA88905D14}"/>
              </a:ext>
            </a:extLst>
          </p:cNvPr>
          <p:cNvSpPr txBox="1"/>
          <p:nvPr/>
        </p:nvSpPr>
        <p:spPr>
          <a:xfrm>
            <a:off x="567583" y="314781"/>
            <a:ext cx="11056528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/>
              <a:t>Smart Classroom</a:t>
            </a:r>
          </a:p>
        </p:txBody>
      </p:sp>
      <p:pic>
        <p:nvPicPr>
          <p:cNvPr id="45" name="Picture 2" descr="National Institute of Technology Hamirpur">
            <a:extLst>
              <a:ext uri="{FF2B5EF4-FFF2-40B4-BE49-F238E27FC236}">
                <a16:creationId xmlns:a16="http://schemas.microsoft.com/office/drawing/2014/main" id="{0F68E7A9-CE48-470F-3681-DB0968C40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97" y="2115421"/>
            <a:ext cx="2679700" cy="262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8A71B89-1119-F6A1-7D52-5908E0983D25}"/>
              </a:ext>
            </a:extLst>
          </p:cNvPr>
          <p:cNvSpPr txBox="1"/>
          <p:nvPr/>
        </p:nvSpPr>
        <p:spPr>
          <a:xfrm>
            <a:off x="-1253612" y="2580465"/>
            <a:ext cx="614516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/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Anshul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22DCS003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5203F7-AA6A-0B47-CE64-7A216A674B0E}"/>
              </a:ext>
            </a:extLst>
          </p:cNvPr>
          <p:cNvSpPr txBox="1"/>
          <p:nvPr/>
        </p:nvSpPr>
        <p:spPr>
          <a:xfrm>
            <a:off x="6789177" y="2580465"/>
            <a:ext cx="6744928" cy="958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Presented To: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Dr. Robin Singh </a:t>
            </a:r>
            <a:r>
              <a:rPr lang="en-US" sz="2400" dirty="0" err="1"/>
              <a:t>Bhadoria</a:t>
            </a:r>
            <a:endParaRPr lang="en-US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172C2-7684-3021-45AA-F6BA2DC48F2F}"/>
              </a:ext>
            </a:extLst>
          </p:cNvPr>
          <p:cNvSpPr txBox="1"/>
          <p:nvPr/>
        </p:nvSpPr>
        <p:spPr>
          <a:xfrm>
            <a:off x="2398918" y="5105355"/>
            <a:ext cx="739385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/>
              <a:t>Department of 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US" sz="1800" dirty="0"/>
              <a:t>National Institute of Technology, Hamirpur</a:t>
            </a:r>
          </a:p>
        </p:txBody>
      </p:sp>
    </p:spTree>
    <p:extLst>
      <p:ext uri="{BB962C8B-B14F-4D97-AF65-F5344CB8AC3E}">
        <p14:creationId xmlns:p14="http://schemas.microsoft.com/office/powerpoint/2010/main" val="362311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7373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5603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670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6517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rPr dirty="0"/>
              <a:t>Proposed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747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5661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0" y="3611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Methodology &amp; Data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891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498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4805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Hardware &amp; Sensors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3035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5413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53949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5440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Simulation &amp;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459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755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7373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Alert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603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670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6517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4747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5661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0" y="3611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389120"/>
            <a:ext cx="457200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4498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480560"/>
            <a:ext cx="25400" cy="50292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47472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Manual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Wastes 5–10 minutes per lecture.</a:t>
            </a:r>
            <a:br/>
            <a:r>
              <a:t>Proxy attendance widespread with no physical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1554480"/>
            <a:ext cx="347472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 Occupancy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Administrators have zero real-time</a:t>
            </a:r>
            <a:br/>
            <a:r>
              <a:t>visibility into room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554480"/>
            <a:ext cx="3474720" cy="5080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9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Poor Air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Overcrowded rooms → CO₂ &gt; 2500 ppm →</a:t>
            </a:r>
            <a:br/>
            <a:r>
              <a:t>drowsiness &amp; reduced concentration.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3474720" cy="50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Fire Safety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Safety norms require exact occupancy count.</a:t>
            </a:r>
            <a:br/>
            <a:r>
              <a:t>Impossible with paper registers.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02336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79" y="4023360"/>
            <a:ext cx="3474720" cy="50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59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historical data on attendance trends,</a:t>
            </a:r>
            <a:br/>
            <a:r>
              <a:t>peak hours, or room utilization.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2.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274320" cy="2743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RFID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Students tap college ID on</a:t>
            </a:r>
            <a:br/>
            <a:r>
              <a:t>RC522 reader → instant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80559" y="1828800"/>
            <a:ext cx="274320" cy="2743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39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Occupancy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Real-time entry/exit counting</a:t>
            </a:r>
            <a:br/>
            <a:r>
              <a:t>via RFID + PIR motion sensor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9" y="1828800"/>
            <a:ext cx="274320" cy="274320"/>
          </a:xfrm>
          <a:prstGeom prst="ellipse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79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Air Quality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MQ-135 sensor measures</a:t>
            </a:r>
            <a:br/>
            <a:r>
              <a:t>CO₂/VOC levels continuously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297680"/>
            <a:ext cx="274320" cy="2743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Environmental Sensing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DHT22 tracks temperature &amp;</a:t>
            </a:r>
            <a:br/>
            <a:r>
              <a:t>humidity in real-time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02336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80559" y="4297680"/>
            <a:ext cx="274320" cy="2743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39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Cloud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ThingSpeak displays live graphs</a:t>
            </a:r>
            <a:br/>
            <a:r>
              <a:t>accessible from any device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023360"/>
            <a:ext cx="3474720" cy="2103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599" y="4297680"/>
            <a:ext cx="274320" cy="2743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79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Smart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Auto buzzer + LCD warnings on</a:t>
            </a:r>
            <a:br/>
            <a:r>
              <a:t>overcrowding or bad 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3. Methodology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400800" cy="4846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[ Insert Wokwi Circuit Screenshot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Wokwi Simulation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874519"/>
            <a:ext cx="109728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98079" y="210312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5512" y="21396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Sensors read every 2s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78892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5512" y="28254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ESP32 checks thresholds</a:t>
            </a:r>
          </a:p>
        </p:txBody>
      </p:sp>
      <p:sp>
        <p:nvSpPr>
          <p:cNvPr id="19" name="Oval 18"/>
          <p:cNvSpPr/>
          <p:nvPr/>
        </p:nvSpPr>
        <p:spPr>
          <a:xfrm>
            <a:off x="7498079" y="3474720"/>
            <a:ext cx="365760" cy="365760"/>
          </a:xfrm>
          <a:prstGeom prst="ellipse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35112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LCD + buzzer respond</a:t>
            </a:r>
          </a:p>
        </p:txBody>
      </p:sp>
      <p:sp>
        <p:nvSpPr>
          <p:cNvPr id="23" name="Oval 22"/>
          <p:cNvSpPr/>
          <p:nvPr/>
        </p:nvSpPr>
        <p:spPr>
          <a:xfrm>
            <a:off x="7498079" y="416052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41970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TRANSMIT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HTTPS to ThingSpeak (16s)</a:t>
            </a:r>
          </a:p>
        </p:txBody>
      </p:sp>
      <p:sp>
        <p:nvSpPr>
          <p:cNvPr id="27" name="Oval 26"/>
          <p:cNvSpPr/>
          <p:nvPr/>
        </p:nvSpPr>
        <p:spPr>
          <a:xfrm>
            <a:off x="7498079" y="484632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25512" y="4882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Live graphs on cloud</a:t>
            </a:r>
          </a:p>
        </p:txBody>
      </p:sp>
      <p:sp>
        <p:nvSpPr>
          <p:cNvPr id="31" name="Oval 30"/>
          <p:cNvSpPr/>
          <p:nvPr/>
        </p:nvSpPr>
        <p:spPr>
          <a:xfrm>
            <a:off x="7498079" y="5532120"/>
            <a:ext cx="365760" cy="3657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25512" y="55686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Node-RED triggers alerts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B70CD6D-4068-1CCE-B578-987FC5B7B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28" y="2377440"/>
            <a:ext cx="6261623" cy="3144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Communication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55448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Connection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↔ RC522 RFID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High-speed card reading (10 MHz)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I²C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↔ LCD 16×2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Display status messages (2 wires)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↔ DHT22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Temperature &amp; humidity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↔ MQ-135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Analog air quality reading (0–4095)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→ ThingSpeak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Encrypted cloud data transmission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↔ PIR, Buzzer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Digital input/output signals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4. Hardware &amp;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Component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Microcontroller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ESP32 DevKit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Central processing + WiFi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Reader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MFRC522 (RC522)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card scanning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13.56 MHz Mifare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Motion Sensor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HC-SR501 PIR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Presence detection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MQ-135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CO₂ / VOC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 &amp; Humidity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DHT22 / AM2302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Environmental monitoring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OneWire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LCD 16×2 I2C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status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I²C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Buzzer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Passive Buzzer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Audio alerts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ESP32 Pin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858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ESP32 Pin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SDA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SCK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18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MOSI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MISO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19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RFID 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LCD SDA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21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I²C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LCD SCL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I²C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DHT22 Data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15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OneWire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PIR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MQ-135 (Analog)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34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Buzzer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GPIO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ESP32?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965960"/>
            <a:ext cx="109728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Dual-core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240 MHz Xtensa 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52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WiFi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802.11 b/g/n + 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11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34 GPIO Pins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Enough for all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696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ADC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443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Reads analog MQ-135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Low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1023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Deep sleep modes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486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▸  Affordable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7607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₹350–500 per unit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5. Simulation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Wokwi ESP32 Simulator + ThingSpeak Cloud Dashboard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88316"/>
              </p:ext>
            </p:extLst>
          </p:nvPr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 in Simulator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Tap RFID tag on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LCD: 'Welcome, </a:t>
                      </a:r>
                      <a:r>
                        <a:rPr lang="en-US" dirty="0"/>
                        <a:t>XYZ</a:t>
                      </a:r>
                      <a:r>
                        <a:rPr dirty="0"/>
                        <a:t>!' + 1 beep + occupancy 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Exit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Tap same tag again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LCD: 'Goodbye, </a:t>
                      </a:r>
                      <a:r>
                        <a:rPr lang="en-US" dirty="0"/>
                        <a:t>XYZ</a:t>
                      </a:r>
                      <a:r>
                        <a:rPr dirty="0"/>
                        <a:t>!' + 2 beeps + occupancy −1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Tap unregistered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LCD: 'Access Denied' + 3 beeps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Temperature Change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Click DHT22, adjust slider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Updated values on LCD + ThingSpeak graph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 Quality Spike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Turn potentiometer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LCD warning + 5 beeps if ADC &gt; 2500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Motion Detection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Click PIR sensor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Motion field updates on </a:t>
                      </a:r>
                      <a:r>
                        <a:rPr dirty="0" err="1"/>
                        <a:t>ThingSpeak</a:t>
                      </a:r>
                      <a:r>
                        <a:rPr dirty="0"/>
                        <a:t> cloud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ThingSpeak Cloud Dashboard — Live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1508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Field 1: Temperature (°C)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508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Field 2: Humidity (%)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03520" cy="1508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Field 3: Air Quality (ADC)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54680"/>
            <a:ext cx="5303520" cy="1508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Field 4: Occupancy (count)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5303520" cy="1508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Field 5: Motion (0/1)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Right-click placeholder → Format Shape → Fill → Picture → paste ThingSpeak screenshots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6F5A6D-6B5F-9141-5E46-4B5DBEEC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91" y="1549318"/>
            <a:ext cx="4073121" cy="13819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66C4B3-E2DF-AB1D-A0B1-03F21F326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647" y="1529039"/>
            <a:ext cx="4114308" cy="14224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0CE488-E115-030E-7E16-6158E6181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290" y="3200400"/>
            <a:ext cx="4073121" cy="13642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1791D70-2D76-080D-D7F6-9297B34B8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6647" y="3264793"/>
            <a:ext cx="4114308" cy="12998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F2848D8-03C8-FCA1-B5B1-384A40223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291" y="4926146"/>
            <a:ext cx="4073122" cy="14180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Serial Monitor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058400" cy="493776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FA7B"/>
                </a:solidFill>
                <a:latin typeface="Consolas"/>
              </a:defRPr>
            </a:pPr>
            <a:r>
              <a:t>=== Smart Classroom Occupancy System ===</a:t>
            </a:r>
            <a:br/>
            <a:r>
              <a:t>[RFID] RC522 ready</a:t>
            </a:r>
            <a:br/>
            <a:r>
              <a:t>[WiFi] Connecting..... Connected!</a:t>
            </a:r>
            <a:br/>
            <a:r>
              <a:t>[WiFi] IP: 10.10.0.2</a:t>
            </a:r>
            <a:br/>
            <a:r>
              <a:t>[SYSTEM] Ready!</a:t>
            </a:r>
            <a:br/>
            <a:br/>
            <a:r>
              <a:t>[SENSORS] T=45.1C H=75.0% AQ=120 PIR=no Occ=0</a:t>
            </a:r>
            <a:br/>
            <a:r>
              <a:t>[RFID] UID: E9:76:42:A3</a:t>
            </a:r>
            <a:br/>
            <a:r>
              <a:t>[RFID] Anshu ENTERED | Occupancy: 1</a:t>
            </a:r>
            <a:br/>
            <a:r>
              <a:t>[CLOUD] ThingSpeak entry #1</a:t>
            </a:r>
            <a:br/>
            <a:r>
              <a:t>[SENSORS] T=45.1C H=75.0% AQ=3850 PIR=YES Occ=1</a:t>
            </a:r>
            <a:br/>
            <a:r>
              <a:t>[ALERT] OVERCROWDING / BAD AIR!</a:t>
            </a:r>
            <a:br/>
            <a:r>
              <a:t>[CLOUD] ThingSpeak entry #2</a:t>
            </a:r>
            <a:br/>
            <a:r>
              <a:t>[RFID] UID: A1:B2:C3:D4</a:t>
            </a:r>
            <a:br/>
            <a:r>
              <a:t>[RFID] Rahul ENTERED | Occupancy: 2</a:t>
            </a:r>
            <a:br/>
            <a:r>
              <a:t>[CLOUD] ThingSpeak entry #3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6. Alert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Multi-level alerts for safety and attendance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Response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Entry Beep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 RFID card tapped (entry)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beep + LCD: 'Welcome, [Name]!'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Exit Beep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 card tapped again (exit)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beeps + LCD: 'Goodbye, [Name]!'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Unregistered RFID tag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beeps + LCD: 'Access Denied'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Overcrowding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Occupancy count &gt; 30 students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rapid beeps + LCD: '!! WARNING !!'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Bad Air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MQ-135 analog &gt; 2500 (ADC)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rapid beeps + LCD: 'BAD AIR QUALITY'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7.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 err="1"/>
              <a:t>ThingSpeak</a:t>
            </a:r>
            <a:r>
              <a:rPr dirty="0"/>
              <a:t> 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Free tier: updates only every 15 seconds — not truly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Single Entry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Current design assumes one door; multi-door needs more readers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No Persistent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Attendance log in serial output only — no database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69748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MQ-135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Simulated with potentiometer; real sensor needs warm-up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 err="1"/>
              <a:t>WiFi</a:t>
            </a:r>
            <a:r>
              <a:rPr dirty="0"/>
              <a:t>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Cloud features fail without internet (local LCD/buzzer still work)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Hardcoded API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Needs secure key management for production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6636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No Battery 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ESP32 needs constant 5V USB — no operation during power cuts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16636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516636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525780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22"/>
                </a:solidFill>
                <a:latin typeface="Calibri"/>
              </a:defRPr>
            </a:pPr>
            <a:r>
              <a:rPr dirty="0"/>
              <a:t>Simulation vs Real HW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Wokwi RFID has limited features vs actual RC522 hardware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8.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Potential Enhancements &amp;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0800" cy="10515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ESP32-CAM for visual verification — zero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080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Flutter/React Native for student attendance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748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0800" cy="10515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Database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Firebase/MongoDB for persistent attendance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50800" cy="10515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Multi-Door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Multiple ESP32+RFID units per classroom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50800" cy="1051560"/>
          </a:xfrm>
          <a:prstGeom prst="rect">
            <a:avLst/>
          </a:prstGeom>
          <a:solidFill>
            <a:srgbClr val="F0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HVAC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Auto-control fans/AC based on temp + CO₂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5080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ML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Predict peak occupancy from historical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6636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166360"/>
            <a:ext cx="508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LoRa/Mesh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Campus-wide coverage without WiFi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66360"/>
            <a:ext cx="5394960" cy="1051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5166360"/>
            <a:ext cx="50800" cy="10515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→  Solar + Battery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Uninterrupted operation during power cuts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9.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57276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5727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Successfully designed and simulated a Smart Classroom Occupancy System using ESP32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0160" y="230428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3042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RFID-based attendance eliminates manual registers and prevents proxy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92608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303580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3035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Real-time environmental monitoring (temp, humidity, CO₂) ensures student comfort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5760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80160" y="376732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37673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Cloud dashboard on ThingSpeak provides live visualization from any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8912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80160" y="449884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0" y="44988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Alert system warns against overcrowding and poor air quality — locally and on cloud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120640"/>
            <a:ext cx="9601200" cy="5669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80160" y="5230368"/>
            <a:ext cx="347472" cy="34747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Entire system built using 100% open-source tools as per assignment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[1]  Wokwi ESP32 Simulator — https://wokwi.com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[2]  ThingSpeak IoT Platform — https://thingspeak.com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[3]  Node-RED Flow Editor — https://nodered.org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[4]  MFRC522 Library — https://github.com/miguelbalboa/rfid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[5]  ESP32 Arduino Core — https://github.com/espressif/arduino-esp32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[6]  Tech Monitor: Open-Source IoT Tools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  https://techmonitor.ai/technology/software/open-source-tools-for-iot-applications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[7]  G2: IoT Platforms — https://g2.com/categories/iot-platforms/free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[8]  DHT22 Datasheet — Aosong Electronics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[9]  MQ-135 Gas Sensor Datasheet — Winsen Electronics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1359</Words>
  <Application>Microsoft Office PowerPoint</Application>
  <PresentationFormat>Widescreen</PresentationFormat>
  <Paragraphs>300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Phoenix pier</cp:lastModifiedBy>
  <cp:revision>4</cp:revision>
  <dcterms:created xsi:type="dcterms:W3CDTF">2013-01-27T09:14:16Z</dcterms:created>
  <dcterms:modified xsi:type="dcterms:W3CDTF">2026-04-08T19:25:11Z</dcterms:modified>
  <cp:category/>
</cp:coreProperties>
</file>